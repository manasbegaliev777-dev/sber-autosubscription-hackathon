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62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ln w="31750" cap="flat">
              <a:solidFill>
                <a:srgbClr val="02C39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2C39A"/>
              </a:solidFill>
              <a:ln w="9525" cap="flat">
                <a:solidFill>
                  <a:srgbClr val="02C39A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499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0.86560000000000004</c:v>
                </c:pt>
                <c:pt idx="1">
                  <c:v>0.88839999999999997</c:v>
                </c:pt>
                <c:pt idx="2">
                  <c:v>0.89149999999999996</c:v>
                </c:pt>
                <c:pt idx="3">
                  <c:v>0.8931</c:v>
                </c:pt>
                <c:pt idx="4">
                  <c:v>0.89459999999999995</c:v>
                </c:pt>
                <c:pt idx="5">
                  <c:v>0.89529999999999998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C2C-4D71-9527-5526FA5E0D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.86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361-4D22-9E4E-EEED5B586C42}"/>
              </c:ext>
            </c:extLst>
          </c:dPt>
          <c:dPt>
            <c:idx val="1"/>
            <c:invertIfNegative val="0"/>
            <c:bubble3D val="0"/>
            <c:spPr>
              <a:solidFill>
                <a:srgbClr val="7ADCF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361-4D22-9E4E-EEED5B586C42}"/>
              </c:ext>
            </c:extLst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361-4D22-9E4E-EEED5B586C4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Random</c:v>
                </c:pt>
                <c:pt idx="1">
                  <c:v>Бейзлайн
(LogReg)</c:v>
                </c:pt>
                <c:pt idx="2">
                  <c:v>CatBoost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0.873</c:v>
                </c:pt>
                <c:pt idx="2">
                  <c:v>0.89529999999999998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61-4D22-9E4E-EEED5B586C4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.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screen_width</c:v>
                </c:pt>
                <c:pt idx="1">
                  <c:v>device_browser</c:v>
                </c:pt>
                <c:pt idx="2">
                  <c:v>log_visit_number</c:v>
                </c:pt>
                <c:pt idx="3">
                  <c:v>is_first_visit</c:v>
                </c:pt>
                <c:pt idx="4">
                  <c:v>month</c:v>
                </c:pt>
                <c:pt idx="5">
                  <c:v>visit_number</c:v>
                </c:pt>
                <c:pt idx="6">
                  <c:v>utm_medium</c:v>
                </c:pt>
                <c:pt idx="7">
                  <c:v>utm_source</c:v>
                </c:pt>
                <c:pt idx="8">
                  <c:v>log_hits_count</c:v>
                </c:pt>
                <c:pt idx="9">
                  <c:v>hits_count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3.16</c:v>
                </c:pt>
                <c:pt idx="1">
                  <c:v>2.79</c:v>
                </c:pt>
                <c:pt idx="2">
                  <c:v>4.18</c:v>
                </c:pt>
                <c:pt idx="3">
                  <c:v>4.26</c:v>
                </c:pt>
                <c:pt idx="4">
                  <c:v>4.68</c:v>
                </c:pt>
                <c:pt idx="5">
                  <c:v>5.25</c:v>
                </c:pt>
                <c:pt idx="6">
                  <c:v>6.84</c:v>
                </c:pt>
                <c:pt idx="7">
                  <c:v>8.1199999999999992</c:v>
                </c:pt>
                <c:pt idx="8">
                  <c:v>19.760000000000002</c:v>
                </c:pt>
                <c:pt idx="9">
                  <c:v>30.67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3E-4862-921A-31A635A90E5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4095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>
                <a:alpha val="1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7589520" y="2926080"/>
            <a:ext cx="2011680" cy="2011680"/>
          </a:xfrm>
          <a:prstGeom prst="ellipse">
            <a:avLst/>
          </a:prstGeom>
          <a:solidFill>
            <a:srgbClr val="CADCFC">
              <a:alpha val="10000"/>
            </a:srgbClr>
          </a:solidFill>
          <a:ln w="12700">
            <a:solidFill>
              <a:srgbClr val="CADCFC">
                <a:alpha val="1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57200" y="411480"/>
            <a:ext cx="2560320" cy="347472"/>
          </a:xfrm>
          <a:prstGeom prst="round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4114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Хакатон · Проектная практика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сайта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" y="162763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СберАвтоподписки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57200" y="251460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 вероятности совершения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целевого действия пользователем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32004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24688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CADCFC">
                <a:alpha val="4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7200" y="35204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</a:rPr>
              <a:t>1.86 млн сессий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91840" y="3520440"/>
            <a:ext cx="24688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CADCFC">
                <a:alpha val="4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291840" y="35204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</a:rPr>
              <a:t>ROC-AUC 0.7197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26480" y="3520440"/>
            <a:ext cx="24688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CADCFC">
                <a:alpha val="4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126480" y="35204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ADCFC"/>
                </a:solidFill>
              </a:rPr>
              <a:t>CatBoost + FastAPI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Машинное обучение · </a:t>
            </a:r>
            <a:r>
              <a:rPr lang="ru-RU" sz="1000" dirty="0">
                <a:solidFill>
                  <a:srgbClr val="64748B"/>
                </a:solidFill>
              </a:rPr>
              <a:t>МИФИ / </a:t>
            </a:r>
            <a:r>
              <a:rPr lang="en-US" sz="1000" dirty="0">
                <a:solidFill>
                  <a:srgbClr val="64748B"/>
                </a:solidFill>
              </a:rPr>
              <a:t>SF</a:t>
            </a:r>
            <a:r>
              <a:rPr lang="ru-RU" sz="1000" dirty="0">
                <a:solidFill>
                  <a:srgbClr val="64748B"/>
                </a:solidFill>
              </a:rPr>
              <a:t> </a:t>
            </a:r>
            <a:r>
              <a:rPr lang="en-US" sz="1000" dirty="0">
                <a:solidFill>
                  <a:srgbClr val="64748B"/>
                </a:solidFill>
              </a:rPr>
              <a:t>·</a:t>
            </a:r>
            <a:r>
              <a:rPr lang="ru-RU" sz="1000" dirty="0">
                <a:solidFill>
                  <a:srgbClr val="64748B"/>
                </a:solidFill>
              </a:rPr>
              <a:t> Бегали уулу Манас </a:t>
            </a:r>
            <a:r>
              <a:rPr lang="en-US" sz="1000" dirty="0">
                <a:solidFill>
                  <a:srgbClr val="64748B"/>
                </a:solidFill>
              </a:rPr>
              <a:t>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О ПРОЕКТЕ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Компания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</a:rPr>
              <a:t>СберАвтоподписка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474720" cy="2743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02920" y="17830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</a:rPr>
              <a:t>Сервис долгосрочной аренды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</a:rPr>
              <a:t>автомобилей для физических лиц.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</a:rPr>
              <a:t>Фиксированный платёж в месяц,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</a:rPr>
              <a:t>включая страхование, ТО и шины.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Цель проекта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30632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</a:rPr>
              <a:t>Построить модель, предсказывающую вероятность </a:t>
            </a:r>
            <a:r>
              <a:rPr lang="en-US" sz="1200" b="1" dirty="0">
                <a:solidFill>
                  <a:srgbClr val="02C39A"/>
                </a:solidFill>
              </a:rPr>
              <a:t>целевого действия</a:t>
            </a:r>
            <a:r>
              <a:rPr lang="en-US" sz="1200" dirty="0">
                <a:solidFill>
                  <a:srgbClr val="1E2761"/>
                </a:solidFill>
              </a:rPr>
              <a:t> пользователя на сайте.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914400"/>
            <a:ext cx="411480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</a:rPr>
              <a:t>Модель поможет: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92040" y="1572768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892040" y="1572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230368" y="15361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Оценивать эффективность каналов привлечения трафика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92040" y="2487168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89204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30368" y="24505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Адаптировать рекламные кампании под нужную аудиторию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92040" y="3401568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892040" y="3401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230368" y="336499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Улучшать UX сайта на основе анализа поведения пользователей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92040" y="4069080"/>
            <a:ext cx="3749040" cy="347472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4892040" y="40690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Целевое действие: заявка, звонок, диалог с менеджером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ДАННЫЕ И РАЗВЕДОЧНЫЙ АНАЛИЗ (EDA)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20040" y="841248"/>
            <a:ext cx="196596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84124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9509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</a:rPr>
              <a:t>1 860 042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Сессий (визитов)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160020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ga_sessions.pkl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468880" y="841248"/>
            <a:ext cx="196596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468880" y="84124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0" y="9509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</a:rPr>
              <a:t>15 726 470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68880" y="138988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Событий (хитов)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468880" y="160020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ga_hits.pkl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17720" y="841248"/>
            <a:ext cx="196596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617720" y="84124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617720" y="9509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</a:rPr>
              <a:t>79 038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17720" y="138988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Целевых действий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17720" y="160020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7 типов событий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766560" y="841248"/>
            <a:ext cx="196596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66560" y="84124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766560" y="9509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2C39A"/>
                </a:solidFill>
              </a:rPr>
              <a:t>2.10%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66560" y="138988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Конверсия (CR)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766560" y="160020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дисбаланс классов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20040" y="199339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Ключевые выводы разведочного анализа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2359152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320040" y="2359152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57200" y="241401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Устройства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26334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Mobile — 72% трафика, но desktop конвертирует в 1.8× лучше. Нужна оптимизация мобильной версии.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54880" y="2359152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754880" y="2359152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892040" y="241401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Каналы трафика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92040" y="26334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Referral: CR 4.21% — лучший канал. Organic: 2.43%. Banner — много трафика, но низкая конверсия.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0040" y="3163824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320040" y="3163824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57200" y="321868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Время активности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34381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Пик активности 10:00–19:00. Ночная аудитория (00:00–07:00) конвертирует лучше — выше намерение.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3163824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4754880" y="3163824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892040" y="321868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Повторные визиты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892040" y="34381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visit_number положительно влияет на конверсию. Возвращающиеся клиенты — самая ценная аудитория.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20040" y="3968496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320040" y="3968496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457200" y="402336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Глубина сессии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424281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Средняя: 8.4 хита, медиана: 3.0. Сессии с 10+ хитами конвертируются значительно чаще.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754880" y="3968496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7" name="Shape 45"/>
          <p:cNvSpPr/>
          <p:nvPr/>
        </p:nvSpPr>
        <p:spPr>
          <a:xfrm>
            <a:off x="4754880" y="3968496"/>
            <a:ext cx="64008" cy="7132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4892040" y="402336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География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892040" y="424281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Москва — главный источник трафика. Регионы показывают более чёткое намерение у пользователей.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FEATURE ENGINEERING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20040" y="727300"/>
            <a:ext cx="8503920" cy="42062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320040" y="727300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</a:rPr>
              <a:t>Итого: 23 признака для модели  |  </a:t>
            </a:r>
            <a:r>
              <a:rPr lang="ru-RU" sz="1200" b="1" dirty="0">
                <a:solidFill>
                  <a:srgbClr val="02C39A"/>
                </a:solidFill>
              </a:rPr>
              <a:t>16</a:t>
            </a:r>
            <a:r>
              <a:rPr lang="en-US" sz="1200" b="1" dirty="0">
                <a:solidFill>
                  <a:srgbClr val="02C39A"/>
                </a:solidFill>
              </a:rPr>
              <a:t> </a:t>
            </a:r>
            <a:r>
              <a:rPr lang="en-US" sz="1200" b="1" dirty="0" err="1">
                <a:solidFill>
                  <a:srgbClr val="02C39A"/>
                </a:solidFill>
              </a:rPr>
              <a:t>числовых</a:t>
            </a:r>
            <a:r>
              <a:rPr lang="en-US" sz="1200" b="1" dirty="0">
                <a:solidFill>
                  <a:srgbClr val="02C39A"/>
                </a:solidFill>
              </a:rPr>
              <a:t>  +  7 </a:t>
            </a:r>
            <a:r>
              <a:rPr lang="en-US" sz="1200" b="1" dirty="0" err="1">
                <a:solidFill>
                  <a:srgbClr val="02C39A"/>
                </a:solidFill>
              </a:rPr>
              <a:t>категориальных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239364"/>
            <a:ext cx="4160520" cy="32004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20040" y="12393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Числовые признаки (1</a:t>
            </a:r>
            <a:r>
              <a:rPr lang="ru-RU" sz="1100" b="1" dirty="0">
                <a:solidFill>
                  <a:srgbClr val="1E2761"/>
                </a:solidFill>
              </a:rPr>
              <a:t>6</a:t>
            </a:r>
            <a:r>
              <a:rPr lang="en-US" sz="1100" b="1" dirty="0">
                <a:solidFill>
                  <a:srgbClr val="1E2761"/>
                </a:solidFill>
              </a:rPr>
              <a:t>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623412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84048" y="16234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visit_number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57400" y="16234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Порядковый номер визита клиента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" y="1952596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84048" y="19525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log_visit_number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19525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Логарифм visit_number (сглаживание)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2281780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84048" y="22817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visit_number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057400" y="22817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Порядковый номер визита клиента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610964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84048" y="261096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log_visit_number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57400" y="26109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Логарифм visit_number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2940148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84048" y="29401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hour / weekday / month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057400" y="29401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Временные признаки визита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3269332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384048" y="326933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is_organic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057400" y="32693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Органический трафик (0/1)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0040" y="3598516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384048" y="359851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is_mobile / desktop / tablet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057400" y="35985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Тип устройства (бинарные)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927700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384048" y="39277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is_night / is_work_hours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057400" y="39277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Время суток (бинарные)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" y="4256884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84048" y="42568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is_first_visit / is_returning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057400" y="42568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Первый или повторный визит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0040" y="4586068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384048" y="45860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is_ios / screen_width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057400" y="45860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ОС и ширина экрана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663440" y="1239364"/>
            <a:ext cx="4160520" cy="320040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4663440" y="12393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Категориальные признаки (7)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63440" y="1623412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4727448" y="16234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utm_medium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400800" y="16234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Тип канала привлечения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663440" y="1952596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4727448" y="19525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utm_source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400800" y="19525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Источник трафика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63440" y="2281780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4727448" y="22817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device_category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400800" y="22817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Категория устройства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663440" y="2610964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4727448" y="261096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device_os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400800" y="26109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Операционная система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63440" y="2940148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4727448" y="29401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device_browser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400800" y="29401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Браузер пользователя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3269332"/>
            <a:ext cx="4160520" cy="292608"/>
          </a:xfrm>
          <a:prstGeom prst="rect">
            <a:avLst/>
          </a:prstGeom>
          <a:solidFill>
            <a:srgbClr val="EEF3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4727448" y="326933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geo_city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400800" y="32693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Город пользователя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63440" y="3598516"/>
            <a:ext cx="41605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4727448" y="359851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geo_country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400800" y="35985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Страна пользователя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0040" y="4924044"/>
            <a:ext cx="8503920" cy="228600"/>
          </a:xfrm>
          <a:prstGeom prst="rect">
            <a:avLst/>
          </a:prstGeom>
          <a:solidFill>
            <a:srgbClr val="1E2761">
              <a:alpha val="90000"/>
            </a:srgbClr>
          </a:solidFill>
          <a:ln w="12700">
            <a:solidFill>
              <a:srgbClr val="1E2761">
                <a:alpha val="9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/>
          <p:nvPr/>
        </p:nvSpPr>
        <p:spPr>
          <a:xfrm>
            <a:off x="274320" y="4915252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CatBoost нативно обрабатывает категориальные признаки — дополнительного кодирования не требуется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ML-МОДЕЛЬ: ОБУЧЕНИЕ И РЕЗУЛЬТАТЫ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5603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804672"/>
            <a:ext cx="2560320" cy="5486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868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Разбивка данных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1170432"/>
            <a:ext cx="24231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</a:rPr>
              <a:t>Train: 1 487 448 строк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</a:rPr>
              <a:t>Test:    372 594 строк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</a:rPr>
              <a:t>GroupShuffleSplit по client_id (80/20)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</a:rPr>
              <a:t>Позитивных в train: 2.</a:t>
            </a:r>
            <a:r>
              <a:rPr lang="ru-RU" sz="1100" dirty="0">
                <a:solidFill>
                  <a:srgbClr val="1E2761"/>
                </a:solidFill>
              </a:rPr>
              <a:t>09</a:t>
            </a:r>
            <a:r>
              <a:rPr lang="en-US" sz="1100" dirty="0">
                <a:solidFill>
                  <a:srgbClr val="1E2761"/>
                </a:solidFill>
              </a:rPr>
              <a:t>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08960" y="804672"/>
            <a:ext cx="25603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108960" y="804672"/>
            <a:ext cx="2560320" cy="5486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108960" y="868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Параметры CatBoost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172968" y="1170432"/>
            <a:ext cx="24231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iterations: 500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learning_rate: 0.05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depth: 6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scale_pos_weight: 46.8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97880" y="804672"/>
            <a:ext cx="29260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897880" y="804672"/>
            <a:ext cx="292608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897880" y="886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DCFC"/>
                </a:solidFill>
              </a:rPr>
              <a:t>ROC-AUC (тест)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97880" y="11704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2C39A"/>
                </a:solidFill>
              </a:rPr>
              <a:t>0.7197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897880" y="18105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ADCFC"/>
                </a:solidFill>
              </a:rPr>
              <a:t>Цель была ≥ 0.65  →  превышена на +0.070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2286000"/>
            <a:ext cx="42519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57200" y="23774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Прогресс обучения CatBoost</a:t>
            </a:r>
            <a:endParaRPr lang="en-US" sz="1100" dirty="0"/>
          </a:p>
        </p:txBody>
      </p:sp>
      <p:graphicFrame>
        <p:nvGraphicFramePr>
          <p:cNvPr id="20" name="Chart 0"/>
          <p:cNvGraphicFramePr/>
          <p:nvPr/>
        </p:nvGraphicFramePr>
        <p:xfrm>
          <a:off x="320040" y="2697480"/>
          <a:ext cx="425196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" name="Shape 18"/>
          <p:cNvSpPr/>
          <p:nvPr/>
        </p:nvSpPr>
        <p:spPr>
          <a:xfrm>
            <a:off x="4754880" y="2286000"/>
            <a:ext cx="40690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489204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Сравнение моделей</a:t>
            </a:r>
            <a:endParaRPr lang="en-US" sz="1100" dirty="0"/>
          </a:p>
        </p:txBody>
      </p:sp>
      <p:graphicFrame>
        <p:nvGraphicFramePr>
          <p:cNvPr id="23" name="Chart 1"/>
          <p:cNvGraphicFramePr/>
          <p:nvPr/>
        </p:nvGraphicFramePr>
        <p:xfrm>
          <a:off x="4754880" y="2697480"/>
          <a:ext cx="406908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ИНТЕРПРЕТАЦИЯ ПРИЗНАКОВ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1206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89611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Feature Importance (CatBoost)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320040" y="1207008"/>
          <a:ext cx="512064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5623560" y="804672"/>
            <a:ext cx="320040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5760720" y="8961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</a:rPr>
              <a:t>SHAP-анализ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760720" y="12618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Направление влияния признаков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на вероятность конверсии: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760720" y="1810512"/>
            <a:ext cx="2926080" cy="530352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5788152" y="1938528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788152" y="1938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+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08192" y="18379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</a:rPr>
              <a:t>utm_medium ↑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08192" y="20574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Органика и referral резко увеличивают вероятность конверсии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760720" y="2414016"/>
            <a:ext cx="2926080" cy="530352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5788152" y="2542032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5788152" y="2542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+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08192" y="2441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</a:rPr>
              <a:t>visit_number ↑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108192" y="266090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Повторные визиты положительно влияют на конверсию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760720" y="3017520"/>
            <a:ext cx="2926080" cy="530352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5788152" y="3145536"/>
            <a:ext cx="274320" cy="27432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788152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−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08192" y="304495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74C3C"/>
                </a:solidFill>
              </a:rPr>
              <a:t>is_mobile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108192" y="32644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Мобильные устройства снижают вероятность конверсии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760720" y="3621024"/>
            <a:ext cx="2926080" cy="530352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5788152" y="3749040"/>
            <a:ext cx="274320" cy="274320"/>
          </a:xfrm>
          <a:prstGeom prst="ellipse">
            <a:avLst/>
          </a:prstGeom>
          <a:solidFill>
            <a:srgbClr val="F4A836"/>
          </a:solidFill>
          <a:ln w="12700">
            <a:solidFill>
              <a:srgbClr val="F4A8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5788152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±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108192" y="364845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A836"/>
                </a:solidFill>
              </a:rPr>
              <a:t>utm_medium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108192" y="386791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Органика и referral повышают; banner снижает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760720" y="4224528"/>
            <a:ext cx="2926080" cy="530352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5788152" y="4352544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0"/>
          <p:cNvSpPr/>
          <p:nvPr/>
        </p:nvSpPr>
        <p:spPr>
          <a:xfrm>
            <a:off x="5788152" y="4352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+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108192" y="425196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C39A"/>
                </a:solidFill>
              </a:rPr>
              <a:t>hour (ночь)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108192" y="44714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Ночная аудитория конвертирует выше среднего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РЕАЛИЗАЦИЯ API (FastAPI)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869680" y="0"/>
            <a:ext cx="274320" cy="6858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10515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85800" y="850392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850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2070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Входные данные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1481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utm, geo, device,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время, глубина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801368" y="1078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770632" y="804672"/>
            <a:ext cx="10515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136392" y="850392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136392" y="850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70632" y="12070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prepare_features()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70632" y="1481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23 признака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+ инжиниринг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251960" y="1078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221224" y="804672"/>
            <a:ext cx="10515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586984" y="850392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586984" y="850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21224" y="12070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CatBoost.predict()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221224" y="1481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Вероятность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0.0 – 1.0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702552" y="1078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671816" y="804672"/>
            <a:ext cx="1051560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037576" y="850392"/>
            <a:ext cx="320040" cy="3200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037576" y="850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671816" y="12070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C39A"/>
                </a:solidFill>
              </a:rPr>
              <a:t>JSON-ответ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71816" y="1481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0 / 1 + время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</a:rPr>
              <a:t>ответа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0040" y="2240280"/>
            <a:ext cx="42519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457200" y="23317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</a:rPr>
              <a:t>Эндпоинты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1480" y="2697480"/>
            <a:ext cx="640080" cy="292608"/>
          </a:xfrm>
          <a:prstGeom prst="rect">
            <a:avLst/>
          </a:prstGeom>
          <a:solidFill>
            <a:srgbClr val="CADCFC">
              <a:alpha val="80000"/>
            </a:srgb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11480" y="2697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</a:rPr>
              <a:t>GET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" y="27157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697480" y="27157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Описание сервиса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11480" y="3209544"/>
            <a:ext cx="640080" cy="292608"/>
          </a:xfrm>
          <a:prstGeom prst="rect">
            <a:avLst/>
          </a:prstGeom>
          <a:solidFill>
            <a:srgbClr val="CADCFC">
              <a:alpha val="80000"/>
            </a:srgb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11480" y="320954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</a:rPr>
              <a:t>GET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15568" y="32278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697480" y="3227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Проверка работоспособности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11480" y="3721608"/>
            <a:ext cx="640080" cy="292608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411480" y="37216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</a:rPr>
              <a:t>POST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15568" y="37398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/predict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697480" y="37398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Предсказание: 0 или 1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1480" y="4233672"/>
            <a:ext cx="640080" cy="292608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411480" y="42336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</a:rPr>
              <a:t>POST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15568" y="42519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/predict_proba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69748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Вероятность (0.0 – 1.0)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754880" y="2240280"/>
            <a:ext cx="4069080" cy="2697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4892040" y="2331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</a:rPr>
              <a:t>Производительность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892040" y="27249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Среднее время ответа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360920" y="27249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</a:rPr>
              <a:t>5.27 мс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3072384"/>
            <a:ext cx="3749040" cy="18288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4892040" y="31821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Медиана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360920" y="31821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</a:rPr>
              <a:t>5.14 мс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92040" y="3529584"/>
            <a:ext cx="3749040" cy="18288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4892040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Максимум (1000 запросов)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360920" y="36393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</a:rPr>
              <a:t>8.77 мс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892040" y="3986784"/>
            <a:ext cx="3749040" cy="18288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4892040" y="40965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99-й перцентиль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0920" y="40965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</a:rPr>
              <a:t>6.46 мс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892040" y="4443984"/>
            <a:ext cx="3749040" cy="18288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4892040" y="45537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Критерий ≤ 3000 мс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360920" y="455371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2C39A"/>
                </a:solidFill>
              </a:rPr>
              <a:t>ВЫПОЛНЕН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3200400"/>
            <a:ext cx="3200400" cy="3200400"/>
          </a:xfrm>
          <a:prstGeom prst="ellipse">
            <a:avLst/>
          </a:prstGeom>
          <a:solidFill>
            <a:srgbClr val="02C39A">
              <a:alpha val="12000"/>
            </a:srgbClr>
          </a:solidFill>
          <a:ln w="12700">
            <a:solidFill>
              <a:srgbClr val="02C39A">
                <a:alpha val="12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7498080" y="-457200"/>
            <a:ext cx="2286000" cy="2286000"/>
          </a:xfrm>
          <a:prstGeom prst="ellipse">
            <a:avLst/>
          </a:prstGeom>
          <a:solidFill>
            <a:srgbClr val="CADCFC">
              <a:alpha val="10000"/>
            </a:srgbClr>
          </a:solidFill>
          <a:ln w="12700">
            <a:solidFill>
              <a:srgbClr val="CADCFC">
                <a:alpha val="1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ИТОГИ ПРОЕКТА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804672"/>
            <a:ext cx="1920240" cy="1097280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11480" y="87782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0.7197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1480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ROC-AUC модели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6002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цель была ≥ 0.65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87752" y="804672"/>
            <a:ext cx="1920240" cy="1097280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2587752" y="87782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0.6305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87752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Бейзлайн (LogReg)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87752" y="16002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прирост +0.0893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64024" y="804672"/>
            <a:ext cx="1920240" cy="1097280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764024" y="87782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5.27 мс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764024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Время ответа API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64024" y="16002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критерий ≤ 3000 мс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40296" y="804672"/>
            <a:ext cx="1920240" cy="1097280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940296" y="87782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C39A"/>
                </a:solidFill>
              </a:rPr>
              <a:t>23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940296" y="13898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Признаков в модели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40296" y="16002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16 + 7 категорий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11480" y="20482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</a:rPr>
              <a:t>Ключевые выводы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" y="2395728"/>
            <a:ext cx="54864" cy="32918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48640" y="23957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utm_medium — важнейший признак: органика и referral резко увеличивают конверсию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1480" y="2889504"/>
            <a:ext cx="54864" cy="32918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48640" y="28895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Desktop-пользователи конвертируют в 1.8× лучше мобильных — приоритет UX-доработки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11480" y="3383280"/>
            <a:ext cx="54864" cy="32918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48640" y="3383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Referral-канал показал наивысший CR 4.21% — фокус рекламного бюджета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11480" y="3877056"/>
            <a:ext cx="54864" cy="32918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548640" y="3877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Возвращающиеся клиенты (visit_number &gt; 3) — наиболее ценный сегмент аудитории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74920" y="20482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</a:rPr>
              <a:t>Структура проекта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074920" y="2423160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5166360" y="2450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01_data_loading.ipynb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022592" y="24505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Загрузка и первичный анализ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074920" y="2798064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5166360" y="28254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02_EDA.ipynb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022592" y="2825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Разведочный анализ данных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074920" y="3172968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51663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03_ML_model.ipynb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22592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Обучение и оценка модели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74920" y="3547872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5166360" y="3575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04_API.ipynb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022592" y="35753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Тестирование API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074920" y="3922776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5166360" y="3950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predict.py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022592" y="39502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FastAPI-сервис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74920" y="4297680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5166360" y="43251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model.pkl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022592" y="43251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Сохранённая CatBoost-модель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074920" y="4672584"/>
            <a:ext cx="3749040" cy="329184"/>
          </a:xfrm>
          <a:prstGeom prst="rect">
            <a:avLst/>
          </a:prstGeom>
          <a:solidFill>
            <a:srgbClr val="112050"/>
          </a:solidFill>
          <a:ln w="12700">
            <a:solidFill>
              <a:srgbClr val="CADCFC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5166360" y="47000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features_meta.pkl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022592" y="47000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Метаданные признаков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826</Words>
  <Application>Microsoft Office PowerPoint</Application>
  <PresentationFormat>Экран (16:9)</PresentationFormat>
  <Paragraphs>212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сайта СберАвтоподписки</dc:title>
  <dc:subject>PptxGenJS Presentation</dc:subject>
  <dc:creator>Manas</dc:creator>
  <cp:lastModifiedBy>Daniiar</cp:lastModifiedBy>
  <cp:revision>6</cp:revision>
  <dcterms:created xsi:type="dcterms:W3CDTF">2026-05-31T03:21:36Z</dcterms:created>
  <dcterms:modified xsi:type="dcterms:W3CDTF">2026-06-12T02:16:03Z</dcterms:modified>
</cp:coreProperties>
</file>