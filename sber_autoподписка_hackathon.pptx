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62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ROC-AUC</c:v>
                </c:pt>
              </c:strCache>
            </c:strRef>
          </c:tx>
          <c:spPr>
            <a:ln w="31750" cap="flat">
              <a:solidFill>
                <a:srgbClr val="02C39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2C39A"/>
              </a:solidFill>
              <a:ln w="9525" cap="flat">
                <a:solidFill>
                  <a:srgbClr val="02C39A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0</c:v>
                </c:pt>
                <c:pt idx="1">
                  <c:v>100</c:v>
                </c:pt>
                <c:pt idx="2">
                  <c:v>200</c:v>
                </c:pt>
                <c:pt idx="3">
                  <c:v>300</c:v>
                </c:pt>
                <c:pt idx="4">
                  <c:v>400</c:v>
                </c:pt>
                <c:pt idx="5">
                  <c:v>499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0.86560000000000004</c:v>
                </c:pt>
                <c:pt idx="1">
                  <c:v>0.88839999999999997</c:v>
                </c:pt>
                <c:pt idx="2">
                  <c:v>0.89149999999999996</c:v>
                </c:pt>
                <c:pt idx="3">
                  <c:v>0.8931</c:v>
                </c:pt>
                <c:pt idx="4">
                  <c:v>0.89459999999999995</c:v>
                </c:pt>
                <c:pt idx="5">
                  <c:v>0.89529999999999998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1C2C-4D71-9527-5526FA5E0DF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9"/>
          <c:min val="0.86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ru-RU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ROC-AUC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361-4D22-9E4E-EEED5B586C42}"/>
              </c:ext>
            </c:extLst>
          </c:dPt>
          <c:dPt>
            <c:idx val="1"/>
            <c:invertIfNegative val="0"/>
            <c:bubble3D val="0"/>
            <c:spPr>
              <a:solidFill>
                <a:srgbClr val="7ADCF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361-4D22-9E4E-EEED5B586C42}"/>
              </c:ext>
            </c:extLst>
          </c:dPt>
          <c:dPt>
            <c:idx val="2"/>
            <c:invertIfNegative val="0"/>
            <c:bubble3D val="0"/>
            <c:spPr>
              <a:solidFill>
                <a:srgbClr val="02C3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361-4D22-9E4E-EEED5B586C42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Random</c:v>
                </c:pt>
                <c:pt idx="1">
                  <c:v>Бейзлайн
(LogReg)</c:v>
                </c:pt>
                <c:pt idx="2">
                  <c:v>CatBoost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0.5</c:v>
                </c:pt>
                <c:pt idx="1">
                  <c:v>0.873</c:v>
                </c:pt>
                <c:pt idx="2">
                  <c:v>0.89529999999999998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361-4D22-9E4E-EEED5B586C4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.4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ru-RU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Важность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screen_width</c:v>
                </c:pt>
                <c:pt idx="1">
                  <c:v>device_browser</c:v>
                </c:pt>
                <c:pt idx="2">
                  <c:v>log_visit_number</c:v>
                </c:pt>
                <c:pt idx="3">
                  <c:v>is_first_visit</c:v>
                </c:pt>
                <c:pt idx="4">
                  <c:v>month</c:v>
                </c:pt>
                <c:pt idx="5">
                  <c:v>visit_number</c:v>
                </c:pt>
                <c:pt idx="6">
                  <c:v>utm_medium</c:v>
                </c:pt>
                <c:pt idx="7">
                  <c:v>utm_source</c:v>
                </c:pt>
                <c:pt idx="8">
                  <c:v>log_hits_count</c:v>
                </c:pt>
                <c:pt idx="9">
                  <c:v>hits_count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3.16</c:v>
                </c:pt>
                <c:pt idx="1">
                  <c:v>2.79</c:v>
                </c:pt>
                <c:pt idx="2">
                  <c:v>4.18</c:v>
                </c:pt>
                <c:pt idx="3">
                  <c:v>4.26</c:v>
                </c:pt>
                <c:pt idx="4">
                  <c:v>4.68</c:v>
                </c:pt>
                <c:pt idx="5">
                  <c:v>5.25</c:v>
                </c:pt>
                <c:pt idx="6">
                  <c:v>6.84</c:v>
                </c:pt>
                <c:pt idx="7">
                  <c:v>8.1199999999999992</c:v>
                </c:pt>
                <c:pt idx="8">
                  <c:v>19.760000000000002</c:v>
                </c:pt>
                <c:pt idx="9">
                  <c:v>30.67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63E-4862-921A-31A635A90E5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ru-RU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40958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731520"/>
            <a:ext cx="3200400" cy="3200400"/>
          </a:xfrm>
          <a:prstGeom prst="ellipse">
            <a:avLst/>
          </a:prstGeom>
          <a:solidFill>
            <a:srgbClr val="02C39A">
              <a:alpha val="15000"/>
            </a:srgbClr>
          </a:solidFill>
          <a:ln w="12700">
            <a:solidFill>
              <a:srgbClr val="02C39A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9520" y="2926080"/>
            <a:ext cx="2011680" cy="2011680"/>
          </a:xfrm>
          <a:prstGeom prst="ellipse">
            <a:avLst/>
          </a:prstGeom>
          <a:solidFill>
            <a:srgbClr val="CADCFC">
              <a:alpha val="10000"/>
            </a:srgbClr>
          </a:solidFill>
          <a:ln w="12700">
            <a:solidFill>
              <a:srgbClr val="CADCFC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411480"/>
            <a:ext cx="2560320" cy="347472"/>
          </a:xfrm>
          <a:prstGeom prst="roundRect">
            <a:avLst/>
          </a:prstGeom>
          <a:solidFill>
            <a:srgbClr val="02C39A">
              <a:alpha val="8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114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Хакатон · Проектная практика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 сайта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" y="1627632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СберАвтоподписки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457200" y="251460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Предсказание вероятности совершения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целевого действия пользователем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3246120"/>
            <a:ext cx="320040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3520440"/>
            <a:ext cx="2468880" cy="438912"/>
          </a:xfrm>
          <a:prstGeom prst="rect">
            <a:avLst/>
          </a:prstGeom>
          <a:solidFill>
            <a:srgbClr val="0D1B4B"/>
          </a:solidFill>
          <a:ln w="12700">
            <a:solidFill>
              <a:srgbClr val="CADCFC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52044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ADCFC"/>
                </a:solidFill>
              </a:rPr>
              <a:t>1.86 млн сессий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291840" y="3520440"/>
            <a:ext cx="2468880" cy="438912"/>
          </a:xfrm>
          <a:prstGeom prst="rect">
            <a:avLst/>
          </a:prstGeom>
          <a:solidFill>
            <a:srgbClr val="0D1B4B"/>
          </a:solidFill>
          <a:ln w="12700">
            <a:solidFill>
              <a:srgbClr val="CADCFC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352044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ADCFC"/>
                </a:solidFill>
              </a:rPr>
              <a:t>ROC-AUC 0.7289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126480" y="3520440"/>
            <a:ext cx="2468880" cy="438912"/>
          </a:xfrm>
          <a:prstGeom prst="rect">
            <a:avLst/>
          </a:prstGeom>
          <a:solidFill>
            <a:srgbClr val="0D1B4B"/>
          </a:solidFill>
          <a:ln w="12700">
            <a:solidFill>
              <a:srgbClr val="CADCFC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352044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ADCFC"/>
                </a:solidFill>
              </a:rPr>
              <a:t>CatBoost + FastAPI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Машинное обучение · </a:t>
            </a:r>
            <a:r>
              <a:rPr lang="ru-RU" sz="1000" dirty="0">
                <a:solidFill>
                  <a:srgbClr val="64748B"/>
                </a:solidFill>
              </a:rPr>
              <a:t>МИФИ / </a:t>
            </a:r>
            <a:r>
              <a:rPr lang="en-US" sz="1000" dirty="0">
                <a:solidFill>
                  <a:srgbClr val="64748B"/>
                </a:solidFill>
              </a:rPr>
              <a:t>SF</a:t>
            </a:r>
            <a:r>
              <a:rPr lang="ru-RU" sz="1000" dirty="0">
                <a:solidFill>
                  <a:srgbClr val="64748B"/>
                </a:solidFill>
              </a:rPr>
              <a:t> </a:t>
            </a:r>
            <a:r>
              <a:rPr lang="en-US" sz="1000" dirty="0">
                <a:solidFill>
                  <a:srgbClr val="64748B"/>
                </a:solidFill>
              </a:rPr>
              <a:t>·</a:t>
            </a:r>
            <a:r>
              <a:rPr lang="ru-RU" sz="1000" dirty="0">
                <a:solidFill>
                  <a:srgbClr val="64748B"/>
                </a:solidFill>
              </a:rPr>
              <a:t> Бегали уулу Манас </a:t>
            </a:r>
            <a:r>
              <a:rPr lang="en-US" sz="1000" dirty="0">
                <a:solidFill>
                  <a:srgbClr val="64748B"/>
                </a:solidFill>
              </a:rPr>
              <a:t>·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О ПРОЕКТЕ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869680" y="0"/>
            <a:ext cx="274320" cy="6858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14400"/>
            <a:ext cx="41148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0515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Компания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129844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СберАвтоподписка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2920" y="1691640"/>
            <a:ext cx="3474720" cy="2743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78308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</a:rPr>
              <a:t>Сервис долгосрочной аренды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</a:rPr>
              <a:t>автомобилей для физических лиц.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</a:rPr>
              <a:t>Фиксированный платёж в месяц,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</a:rPr>
              <a:t>включая страхование, ТО и шины.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7889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Цель проекта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306324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</a:rPr>
              <a:t>Построить модель, предсказывающую вероятность </a:t>
            </a:r>
            <a:r>
              <a:rPr lang="en-US" sz="1200" b="1" dirty="0">
                <a:solidFill>
                  <a:srgbClr val="02C39A"/>
                </a:solidFill>
              </a:rPr>
              <a:t>целевого действия</a:t>
            </a:r>
            <a:r>
              <a:rPr lang="en-US" sz="1200" dirty="0">
                <a:solidFill>
                  <a:srgbClr val="1E2761"/>
                </a:solidFill>
              </a:rPr>
              <a:t> пользователя на сайте.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09160" y="914400"/>
            <a:ext cx="4114800" cy="3657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92040" y="10515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</a:rPr>
              <a:t>Модель поможет: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892040" y="1572768"/>
            <a:ext cx="256032" cy="25603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15727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</a:rPr>
              <a:t>1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230368" y="1536192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Оценивать эффективность каналов привлечения трафика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92040" y="2487168"/>
            <a:ext cx="256032" cy="25603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24871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</a:rPr>
              <a:t>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230368" y="2450592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Адаптировать рекламные кампании под нужную аудиторию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92040" y="3401568"/>
            <a:ext cx="256032" cy="25603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34015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</a:rPr>
              <a:t>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230368" y="3364992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Улучшать UX сайта на основе анализа поведения пользователей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92040" y="4069080"/>
            <a:ext cx="3749040" cy="347472"/>
          </a:xfrm>
          <a:prstGeom prst="rect">
            <a:avLst/>
          </a:prstGeom>
          <a:solidFill>
            <a:srgbClr val="02C39A">
              <a:alpha val="8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40690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Целевое действие: заявка, звонок, диалог с менеджером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ДАННЫЕ И РАЗВЕДОЧНЫЙ АНАЛИЗ (EDA)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869680" y="0"/>
            <a:ext cx="274320" cy="6858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41248"/>
            <a:ext cx="196596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41248"/>
            <a:ext cx="196596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950976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2C39A"/>
                </a:solidFill>
              </a:rPr>
              <a:t>1 860 042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20040" y="1389888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Сессий (визитов)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0040" y="160020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ga_sessions.pkl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468880" y="841248"/>
            <a:ext cx="196596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68880" y="841248"/>
            <a:ext cx="196596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68880" y="950976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2C39A"/>
                </a:solidFill>
              </a:rPr>
              <a:t>15 726 470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468880" y="1389888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Событий (хитов)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468880" y="160020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ga_hits.pkl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617720" y="841248"/>
            <a:ext cx="196596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17720" y="841248"/>
            <a:ext cx="196596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17720" y="950976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2C39A"/>
                </a:solidFill>
              </a:rPr>
              <a:t>79 038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617720" y="1389888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Целевых действий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617720" y="160020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7 типов событий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766560" y="841248"/>
            <a:ext cx="196596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66560" y="841248"/>
            <a:ext cx="196596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66560" y="950976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2C39A"/>
                </a:solidFill>
              </a:rPr>
              <a:t>2.10%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766560" y="1389888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Конверсия (CR)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66560" y="160020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дисбаланс классов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20040" y="199339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Ключевые выводы разведочного анализа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20040" y="2359152"/>
            <a:ext cx="42519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2359152"/>
            <a:ext cx="64008" cy="7132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2414016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Устройства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263347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Mobile — 72% трафика, но desktop конвертирует в 1.8× лучше. Нужна оптимизация мобильной версии.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54880" y="2359152"/>
            <a:ext cx="42519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2359152"/>
            <a:ext cx="64008" cy="7132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92040" y="2414016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Каналы трафика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92040" y="263347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Referral: CR 4.21% — лучший канал. Organic: 2.43%. Banner — много трафика, но низкая конверсия.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20040" y="3163824"/>
            <a:ext cx="42519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20040" y="3163824"/>
            <a:ext cx="64008" cy="7132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3218688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Время активности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57200" y="3438144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Пик активности 10:00–19:00. Ночная аудитория (00:00–07:00) конвертирует лучше — выше намерение.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754880" y="3163824"/>
            <a:ext cx="42519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754880" y="3163824"/>
            <a:ext cx="64008" cy="7132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92040" y="3218688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Повторные визиты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892040" y="3438144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visit_number положительно влияет на конверсию. Возвращающиеся клиенты — самая ценная аудитория.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20040" y="3968496"/>
            <a:ext cx="42519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320040" y="3968496"/>
            <a:ext cx="64008" cy="7132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4023360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Глубина сессии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57200" y="4242816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Средняя: 8.4 хита, медиана: 3.0. Сессии с 10+ хитами конвертируются значительно чаще.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754880" y="3968496"/>
            <a:ext cx="42519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754880" y="3968496"/>
            <a:ext cx="64008" cy="7132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92040" y="4023360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География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892040" y="4242816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Москва — главный источник трафика. Регионы показывают более чёткое намерение у пользователей.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FEATURE ENGINEERING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869680" y="0"/>
            <a:ext cx="274320" cy="6858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727300"/>
            <a:ext cx="8503920" cy="42062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727300"/>
            <a:ext cx="8503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C39A"/>
                </a:solidFill>
              </a:rPr>
              <a:t>Итого: 23 признака для модели  |  </a:t>
            </a:r>
            <a:r>
              <a:rPr lang="ru-RU" sz="1200" b="1" dirty="0">
                <a:solidFill>
                  <a:srgbClr val="02C39A"/>
                </a:solidFill>
              </a:rPr>
              <a:t>16</a:t>
            </a:r>
            <a:r>
              <a:rPr lang="en-US" sz="1200" b="1" dirty="0">
                <a:solidFill>
                  <a:srgbClr val="02C39A"/>
                </a:solidFill>
              </a:rPr>
              <a:t> </a:t>
            </a:r>
            <a:r>
              <a:rPr lang="en-US" sz="1200" b="1" dirty="0" err="1">
                <a:solidFill>
                  <a:srgbClr val="02C39A"/>
                </a:solidFill>
              </a:rPr>
              <a:t>числовых</a:t>
            </a:r>
            <a:r>
              <a:rPr lang="en-US" sz="1200" b="1" dirty="0">
                <a:solidFill>
                  <a:srgbClr val="02C39A"/>
                </a:solidFill>
              </a:rPr>
              <a:t>  +  7 </a:t>
            </a:r>
            <a:r>
              <a:rPr lang="en-US" sz="1200" b="1" dirty="0" err="1">
                <a:solidFill>
                  <a:srgbClr val="02C39A"/>
                </a:solidFill>
              </a:rPr>
              <a:t>категориальных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239364"/>
            <a:ext cx="4160520" cy="32004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239364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</a:rPr>
              <a:t>Числовые признаки (1</a:t>
            </a:r>
            <a:r>
              <a:rPr lang="ru-RU" sz="1100" b="1" dirty="0">
                <a:solidFill>
                  <a:srgbClr val="1E2761"/>
                </a:solidFill>
              </a:rPr>
              <a:t>6</a:t>
            </a:r>
            <a:r>
              <a:rPr lang="en-US" sz="1100" b="1" dirty="0">
                <a:solidFill>
                  <a:srgbClr val="1E2761"/>
                </a:solidFill>
              </a:rPr>
              <a:t>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623412"/>
            <a:ext cx="416052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62341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761"/>
                </a:solidFill>
              </a:rPr>
              <a:t>visit_number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057400" y="162341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Порядковый номер визита клиента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" y="1952596"/>
            <a:ext cx="4160520" cy="292608"/>
          </a:xfrm>
          <a:prstGeom prst="rect">
            <a:avLst/>
          </a:prstGeom>
          <a:solidFill>
            <a:srgbClr val="EEF3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195259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761"/>
                </a:solidFill>
              </a:rPr>
              <a:t>log_visit_number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057400" y="195259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Логарифм visit_number (сглаживание)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0040" y="2281780"/>
            <a:ext cx="416052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228178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761"/>
                </a:solidFill>
              </a:rPr>
              <a:t>visit_number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057400" y="22817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Порядковый номер визита клиента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" y="2610964"/>
            <a:ext cx="4160520" cy="292608"/>
          </a:xfrm>
          <a:prstGeom prst="rect">
            <a:avLst/>
          </a:prstGeom>
          <a:solidFill>
            <a:srgbClr val="EEF3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2610964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761"/>
                </a:solidFill>
              </a:rPr>
              <a:t>log_visit_number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057400" y="261096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Логарифм visit_number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0040" y="2940148"/>
            <a:ext cx="416052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294014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761"/>
                </a:solidFill>
              </a:rPr>
              <a:t>hour / weekday / month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057400" y="294014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Временные признаки визита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0040" y="3269332"/>
            <a:ext cx="4160520" cy="292608"/>
          </a:xfrm>
          <a:prstGeom prst="rect">
            <a:avLst/>
          </a:prstGeom>
          <a:solidFill>
            <a:srgbClr val="EEF3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326933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761"/>
                </a:solidFill>
              </a:rPr>
              <a:t>is_organic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057400" y="326933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Органический трафик (0/1)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0040" y="3598516"/>
            <a:ext cx="416052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4048" y="359851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761"/>
                </a:solidFill>
              </a:rPr>
              <a:t>is_mobile / desktop / tablet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057400" y="359851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Тип устройства (бинарные)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0040" y="3927700"/>
            <a:ext cx="4160520" cy="292608"/>
          </a:xfrm>
          <a:prstGeom prst="rect">
            <a:avLst/>
          </a:prstGeom>
          <a:solidFill>
            <a:srgbClr val="EEF3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4048" y="39277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761"/>
                </a:solidFill>
              </a:rPr>
              <a:t>is_night / is_work_hours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057400" y="39277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Время суток (бинарные)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20040" y="4256884"/>
            <a:ext cx="416052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4048" y="4256884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761"/>
                </a:solidFill>
              </a:rPr>
              <a:t>is_first_visit / is_returning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2057400" y="425688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Первый или повторный визит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20040" y="4586068"/>
            <a:ext cx="4160520" cy="292608"/>
          </a:xfrm>
          <a:prstGeom prst="rect">
            <a:avLst/>
          </a:prstGeom>
          <a:solidFill>
            <a:srgbClr val="EEF3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84048" y="458606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761"/>
                </a:solidFill>
              </a:rPr>
              <a:t>is_ios / screen_width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2057400" y="458606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ОС и ширина экрана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663440" y="1239364"/>
            <a:ext cx="4160520" cy="320040"/>
          </a:xfrm>
          <a:prstGeom prst="rect">
            <a:avLst/>
          </a:prstGeom>
          <a:solidFill>
            <a:srgbClr val="02C39A">
              <a:alpha val="8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63440" y="1239364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</a:rPr>
              <a:t>Категориальные признаки (7)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663440" y="1623412"/>
            <a:ext cx="416052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27448" y="162341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761"/>
                </a:solidFill>
              </a:rPr>
              <a:t>utm_medium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400800" y="162341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Тип канала привлечения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663440" y="1952596"/>
            <a:ext cx="4160520" cy="292608"/>
          </a:xfrm>
          <a:prstGeom prst="rect">
            <a:avLst/>
          </a:prstGeom>
          <a:solidFill>
            <a:srgbClr val="EEF3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27448" y="195259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761"/>
                </a:solidFill>
              </a:rPr>
              <a:t>utm_source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400800" y="195259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Источник трафика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663440" y="2281780"/>
            <a:ext cx="416052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27448" y="228178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761"/>
                </a:solidFill>
              </a:rPr>
              <a:t>device_category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400800" y="22817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Категория устройства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663440" y="2610964"/>
            <a:ext cx="4160520" cy="292608"/>
          </a:xfrm>
          <a:prstGeom prst="rect">
            <a:avLst/>
          </a:prstGeom>
          <a:solidFill>
            <a:srgbClr val="EEF3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27448" y="2610964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761"/>
                </a:solidFill>
              </a:rPr>
              <a:t>device_os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6400800" y="261096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Операционная система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663440" y="2940148"/>
            <a:ext cx="416052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727448" y="294014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761"/>
                </a:solidFill>
              </a:rPr>
              <a:t>device_browser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6400800" y="294014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Браузер пользователя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663440" y="3269332"/>
            <a:ext cx="4160520" cy="292608"/>
          </a:xfrm>
          <a:prstGeom prst="rect">
            <a:avLst/>
          </a:prstGeom>
          <a:solidFill>
            <a:srgbClr val="EEF3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27448" y="326933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761"/>
                </a:solidFill>
              </a:rPr>
              <a:t>geo_city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6400800" y="326933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Город пользователя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663440" y="3598516"/>
            <a:ext cx="416052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727448" y="359851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761"/>
                </a:solidFill>
              </a:rPr>
              <a:t>geo_country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6400800" y="359851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Страна пользователя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320040" y="4924044"/>
            <a:ext cx="8503920" cy="228600"/>
          </a:xfrm>
          <a:prstGeom prst="rect">
            <a:avLst/>
          </a:prstGeom>
          <a:solidFill>
            <a:srgbClr val="1E2761">
              <a:alpha val="90000"/>
            </a:srgbClr>
          </a:solidFill>
          <a:ln w="12700">
            <a:solidFill>
              <a:srgbClr val="1E2761">
                <a:alpha val="9000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74320" y="4915252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CatBoost нативно обрабатывает категориальные признаки — дополнительного кодирования не требуется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ML-МОДЕЛЬ: ОБУЧЕНИЕ И РЕЗУЛЬТАТЫ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869680" y="0"/>
            <a:ext cx="274320" cy="6858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04672"/>
            <a:ext cx="25603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04672"/>
            <a:ext cx="2560320" cy="5486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8686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</a:rPr>
              <a:t>Разбивка данных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4048" y="1170432"/>
            <a:ext cx="24231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</a:rPr>
              <a:t>Train: 1 488 033 строк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</a:rPr>
              <a:t>Test:    372 009 строк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</a:rPr>
              <a:t>Стратификация: 80/20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</a:rPr>
              <a:t>Позитивных в train: 2.10%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08960" y="804672"/>
            <a:ext cx="25603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08960" y="804672"/>
            <a:ext cx="2560320" cy="5486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08960" y="8686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</a:rPr>
              <a:t>Параметры CatBoost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172968" y="1170432"/>
            <a:ext cx="24231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iterations: 500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learning_rate: 0.05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depth: 6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scale_pos_weight: 46.7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897880" y="804672"/>
            <a:ext cx="2926080" cy="13258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897880" y="804672"/>
            <a:ext cx="292608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97880" y="8869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ADCFC"/>
                </a:solidFill>
              </a:rPr>
              <a:t>ROC-AUC (тест)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897880" y="1170432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2C39A"/>
                </a:solidFill>
              </a:rPr>
              <a:t>0.7289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5897880" y="181051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Цель была ≥ 0.65  →  превышена на +0.079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" y="2286000"/>
            <a:ext cx="425196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7200" y="237744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Прогресс обучения CatBoost</a:t>
            </a:r>
            <a:endParaRPr lang="en-US" sz="1100" dirty="0"/>
          </a:p>
        </p:txBody>
      </p:sp>
      <p:graphicFrame>
        <p:nvGraphicFramePr>
          <p:cNvPr id="20" name="Chart 0"/>
          <p:cNvGraphicFramePr/>
          <p:nvPr/>
        </p:nvGraphicFramePr>
        <p:xfrm>
          <a:off x="320040" y="2697480"/>
          <a:ext cx="4251960" cy="2148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1" name="Shape 18"/>
          <p:cNvSpPr/>
          <p:nvPr/>
        </p:nvSpPr>
        <p:spPr>
          <a:xfrm>
            <a:off x="4754880" y="2286000"/>
            <a:ext cx="406908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4892040" y="23774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Сравнение моделей</a:t>
            </a:r>
            <a:endParaRPr lang="en-US" sz="1100" dirty="0"/>
          </a:p>
        </p:txBody>
      </p:sp>
      <p:graphicFrame>
        <p:nvGraphicFramePr>
          <p:cNvPr id="23" name="Chart 1"/>
          <p:cNvGraphicFramePr/>
          <p:nvPr/>
        </p:nvGraphicFramePr>
        <p:xfrm>
          <a:off x="4754880" y="2697480"/>
          <a:ext cx="4069080" cy="2148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ИНТЕРПРЕТАЦИЯ ПРИЗНАКОВ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869680" y="0"/>
            <a:ext cx="274320" cy="6858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04672"/>
            <a:ext cx="512064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89611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Feature Importance (CatBoost)</a:t>
            </a:r>
            <a:endParaRPr lang="en-US" sz="11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320040" y="1207008"/>
          <a:ext cx="512064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5623560" y="804672"/>
            <a:ext cx="3200400" cy="4206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760720" y="89611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</a:rPr>
              <a:t>SHAP-анализ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760720" y="126187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Направление влияния признаков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на вероятность конверсии: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760720" y="1810512"/>
            <a:ext cx="2926080" cy="530352"/>
          </a:xfrm>
          <a:prstGeom prst="rect">
            <a:avLst/>
          </a:prstGeom>
          <a:solidFill>
            <a:srgbClr val="112050"/>
          </a:solidFill>
          <a:ln w="1270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788152" y="1938528"/>
            <a:ext cx="274320" cy="2743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788152" y="1938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</a:rPr>
              <a:t>+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108192" y="1837944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</a:rPr>
              <a:t>utm_medium ↑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108192" y="205740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</a:rPr>
              <a:t>Органика и referral резко увеличивают вероятность конверсии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760720" y="2414016"/>
            <a:ext cx="2926080" cy="530352"/>
          </a:xfrm>
          <a:prstGeom prst="rect">
            <a:avLst/>
          </a:prstGeom>
          <a:solidFill>
            <a:srgbClr val="112050"/>
          </a:solidFill>
          <a:ln w="1270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788152" y="2542032"/>
            <a:ext cx="274320" cy="2743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788152" y="25420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</a:rPr>
              <a:t>+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108192" y="2441448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</a:rPr>
              <a:t>visit_number ↑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108192" y="266090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</a:rPr>
              <a:t>Повторные визиты положительно влияют на конверсию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5760720" y="3017520"/>
            <a:ext cx="2926080" cy="530352"/>
          </a:xfrm>
          <a:prstGeom prst="rect">
            <a:avLst/>
          </a:prstGeom>
          <a:solidFill>
            <a:srgbClr val="112050"/>
          </a:solidFill>
          <a:ln w="1270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788152" y="3145536"/>
            <a:ext cx="274320" cy="27432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788152" y="31455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</a:rPr>
              <a:t>−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108192" y="3044952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74C3C"/>
                </a:solidFill>
              </a:rPr>
              <a:t>is_mobile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6108192" y="326440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</a:rPr>
              <a:t>Мобильные устройства снижают вероятность конверсии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5760720" y="3621024"/>
            <a:ext cx="2926080" cy="530352"/>
          </a:xfrm>
          <a:prstGeom prst="rect">
            <a:avLst/>
          </a:prstGeom>
          <a:solidFill>
            <a:srgbClr val="112050"/>
          </a:solidFill>
          <a:ln w="1270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788152" y="3749040"/>
            <a:ext cx="274320" cy="274320"/>
          </a:xfrm>
          <a:prstGeom prst="ellipse">
            <a:avLst/>
          </a:prstGeom>
          <a:solidFill>
            <a:srgbClr val="F4A836"/>
          </a:solidFill>
          <a:ln w="12700">
            <a:solidFill>
              <a:srgbClr val="F4A836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788152" y="3749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</a:rPr>
              <a:t>±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6108192" y="3648456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A836"/>
                </a:solidFill>
              </a:rPr>
              <a:t>utm_medium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6108192" y="386791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</a:rPr>
              <a:t>Органика и referral повышают; banner снижает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5760720" y="4224528"/>
            <a:ext cx="2926080" cy="530352"/>
          </a:xfrm>
          <a:prstGeom prst="rect">
            <a:avLst/>
          </a:prstGeom>
          <a:solidFill>
            <a:srgbClr val="112050"/>
          </a:solidFill>
          <a:ln w="1270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788152" y="4352544"/>
            <a:ext cx="274320" cy="2743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788152" y="43525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</a:rPr>
              <a:t>+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6108192" y="4251960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</a:rPr>
              <a:t>hour (ночь)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6108192" y="447141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</a:rPr>
              <a:t>Ночная аудитория конвертирует выше среднего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РЕАЛИЗАЦИЯ API (FastAPI)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869680" y="0"/>
            <a:ext cx="274320" cy="6858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04672"/>
            <a:ext cx="1051560" cy="12801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850392"/>
            <a:ext cx="320040" cy="3200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8503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20700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C39A"/>
                </a:solidFill>
              </a:rPr>
              <a:t>Входные данные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0040" y="1481328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</a:rPr>
              <a:t>utm, geo, device,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</a:rPr>
              <a:t>время, глубина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801368" y="1078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C39A"/>
                </a:solidFill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2770632" y="804672"/>
            <a:ext cx="1051560" cy="12801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36392" y="850392"/>
            <a:ext cx="320040" cy="3200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36392" y="8503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70632" y="120700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C39A"/>
                </a:solidFill>
              </a:rPr>
              <a:t>prepare_features()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770632" y="1481328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</a:rPr>
              <a:t>23 признака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</a:rPr>
              <a:t>+ инжиниринг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251960" y="1078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C39A"/>
                </a:solidFill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5221224" y="804672"/>
            <a:ext cx="1051560" cy="12801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586984" y="850392"/>
            <a:ext cx="320040" cy="3200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86984" y="8503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221224" y="120700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C39A"/>
                </a:solidFill>
              </a:rPr>
              <a:t>CatBoost.predict()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221224" y="1481328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</a:rPr>
              <a:t>Вероятность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</a:rPr>
              <a:t>0.0 – 1.0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702552" y="1078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C39A"/>
                </a:solidFill>
              </a:rPr>
              <a:t>→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7671816" y="804672"/>
            <a:ext cx="1051560" cy="12801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037576" y="850392"/>
            <a:ext cx="320040" cy="3200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37576" y="8503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</a:rPr>
              <a:t>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671816" y="120700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C39A"/>
                </a:solidFill>
              </a:rPr>
              <a:t>JSON-ответ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671816" y="1481328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</a:rPr>
              <a:t>0 / 1 + время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</a:rPr>
              <a:t>ответа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20040" y="2240280"/>
            <a:ext cx="425196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57200" y="233172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Эндпоинты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11480" y="2697480"/>
            <a:ext cx="640080" cy="292608"/>
          </a:xfrm>
          <a:prstGeom prst="rect">
            <a:avLst/>
          </a:prstGeom>
          <a:solidFill>
            <a:srgbClr val="CADCFC">
              <a:alpha val="8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269748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</a:rPr>
              <a:t>GET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15568" y="271576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697480" y="27157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Описание сервиса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11480" y="3209544"/>
            <a:ext cx="640080" cy="292608"/>
          </a:xfrm>
          <a:prstGeom prst="rect">
            <a:avLst/>
          </a:prstGeom>
          <a:solidFill>
            <a:srgbClr val="CADCFC">
              <a:alpha val="8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" y="3209544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</a:rPr>
              <a:t>GET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15568" y="322783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/health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697480" y="32278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Проверка работоспособности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11480" y="3721608"/>
            <a:ext cx="640080" cy="292608"/>
          </a:xfrm>
          <a:prstGeom prst="rect">
            <a:avLst/>
          </a:prstGeom>
          <a:solidFill>
            <a:srgbClr val="02C39A">
              <a:alpha val="8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1480" y="372160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</a:rPr>
              <a:t>POST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15568" y="373989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/predict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2697480" y="373989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Предсказание: 0 или 1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11480" y="4233672"/>
            <a:ext cx="640080" cy="292608"/>
          </a:xfrm>
          <a:prstGeom prst="rect">
            <a:avLst/>
          </a:prstGeom>
          <a:solidFill>
            <a:srgbClr val="02C39A">
              <a:alpha val="8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11480" y="423367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</a:rPr>
              <a:t>POST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15568" y="425196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/predict_proba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2697480" y="42519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Вероятность (0.0 – 1.0)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754880" y="2240280"/>
            <a:ext cx="4069080" cy="2697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4892040" y="23317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</a:rPr>
              <a:t>Производительность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4892040" y="272491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Среднее время ответа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7360920" y="272491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</a:rPr>
              <a:t>5.</a:t>
            </a:r>
            <a:r>
              <a:rPr lang="ru-RU" sz="1100" b="1" dirty="0">
                <a:solidFill>
                  <a:srgbClr val="FFFFFF"/>
                </a:solidFill>
              </a:rPr>
              <a:t>88</a:t>
            </a:r>
            <a:r>
              <a:rPr lang="en-US" sz="1100" b="1" dirty="0">
                <a:solidFill>
                  <a:srgbClr val="FFFFFF"/>
                </a:solidFill>
              </a:rPr>
              <a:t> мс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892040" y="3072384"/>
            <a:ext cx="3749040" cy="18288"/>
          </a:xfrm>
          <a:prstGeom prst="rect">
            <a:avLst/>
          </a:prstGeom>
          <a:solidFill>
            <a:srgbClr val="CADCFC">
              <a:alpha val="30000"/>
            </a:srgbClr>
          </a:solidFill>
          <a:ln w="1270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92040" y="318211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Медиана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7360920" y="318211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</a:rPr>
              <a:t>5.20 мс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4892040" y="3529584"/>
            <a:ext cx="3749040" cy="18288"/>
          </a:xfrm>
          <a:prstGeom prst="rect">
            <a:avLst/>
          </a:prstGeom>
          <a:solidFill>
            <a:srgbClr val="CADCFC">
              <a:alpha val="30000"/>
            </a:srgbClr>
          </a:solidFill>
          <a:ln w="1270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892040" y="363931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Максимум (1000 запросов)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7360920" y="363931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</a:rPr>
              <a:t>10.</a:t>
            </a:r>
            <a:r>
              <a:rPr lang="ru-RU" sz="1100" b="1" dirty="0">
                <a:solidFill>
                  <a:srgbClr val="FFFFFF"/>
                </a:solidFill>
              </a:rPr>
              <a:t>69</a:t>
            </a:r>
            <a:r>
              <a:rPr lang="en-US" sz="1100" b="1" dirty="0">
                <a:solidFill>
                  <a:srgbClr val="FFFFFF"/>
                </a:solidFill>
              </a:rPr>
              <a:t> мс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4892040" y="3986784"/>
            <a:ext cx="3749040" cy="18288"/>
          </a:xfrm>
          <a:prstGeom prst="rect">
            <a:avLst/>
          </a:prstGeom>
          <a:solidFill>
            <a:srgbClr val="CADCFC">
              <a:alpha val="30000"/>
            </a:srgbClr>
          </a:solidFill>
          <a:ln w="1270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92040" y="409651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99-й перцентиль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7360920" y="409651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</a:rPr>
              <a:t>6.41 мс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4892040" y="4443984"/>
            <a:ext cx="3749040" cy="18288"/>
          </a:xfrm>
          <a:prstGeom prst="rect">
            <a:avLst/>
          </a:prstGeom>
          <a:solidFill>
            <a:srgbClr val="CADCFC">
              <a:alpha val="30000"/>
            </a:srgbClr>
          </a:solidFill>
          <a:ln w="1270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892040" y="455371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Критерий ≤ 3000 мс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7360920" y="455371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2C39A"/>
                </a:solidFill>
              </a:rPr>
              <a:t>ВЫПОЛНЕН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3200400"/>
            <a:ext cx="3200400" cy="3200400"/>
          </a:xfrm>
          <a:prstGeom prst="ellipse">
            <a:avLst/>
          </a:prstGeom>
          <a:solidFill>
            <a:srgbClr val="02C39A">
              <a:alpha val="12000"/>
            </a:srgbClr>
          </a:solidFill>
          <a:ln w="12700">
            <a:solidFill>
              <a:srgbClr val="02C39A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-457200"/>
            <a:ext cx="2286000" cy="2286000"/>
          </a:xfrm>
          <a:prstGeom prst="ellipse">
            <a:avLst/>
          </a:prstGeom>
          <a:solidFill>
            <a:srgbClr val="CADCFC">
              <a:alpha val="10000"/>
            </a:srgbClr>
          </a:solidFill>
          <a:ln w="12700">
            <a:solidFill>
              <a:srgbClr val="CADCFC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ИТОГИ ПРОЕКТА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11480" y="804672"/>
            <a:ext cx="1920240" cy="1097280"/>
          </a:xfrm>
          <a:prstGeom prst="rect">
            <a:avLst/>
          </a:prstGeom>
          <a:solidFill>
            <a:srgbClr val="112050"/>
          </a:solidFill>
          <a:ln w="12700">
            <a:solidFill>
              <a:srgbClr val="CADCFC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877824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C39A"/>
                </a:solidFill>
              </a:rPr>
              <a:t>0.7289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11480" y="138988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ROC-AUC модели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160020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цель была ≥ 0.65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587752" y="804672"/>
            <a:ext cx="1920240" cy="1097280"/>
          </a:xfrm>
          <a:prstGeom prst="rect">
            <a:avLst/>
          </a:prstGeom>
          <a:solidFill>
            <a:srgbClr val="112050"/>
          </a:solidFill>
          <a:ln w="12700">
            <a:solidFill>
              <a:srgbClr val="CADCFC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587752" y="877824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C39A"/>
                </a:solidFill>
              </a:rPr>
              <a:t>0.6346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587752" y="138988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Бейзлайн (LogReg)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587752" y="160020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прирост +0.0943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764024" y="804672"/>
            <a:ext cx="1920240" cy="1097280"/>
          </a:xfrm>
          <a:prstGeom prst="rect">
            <a:avLst/>
          </a:prstGeom>
          <a:solidFill>
            <a:srgbClr val="112050"/>
          </a:solidFill>
          <a:ln w="12700">
            <a:solidFill>
              <a:srgbClr val="CADCFC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64024" y="877824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C39A"/>
                </a:solidFill>
              </a:rPr>
              <a:t>5.</a:t>
            </a:r>
            <a:r>
              <a:rPr lang="ru-RU" sz="2200" b="1" dirty="0">
                <a:solidFill>
                  <a:srgbClr val="02C39A"/>
                </a:solidFill>
              </a:rPr>
              <a:t>88</a:t>
            </a:r>
            <a:r>
              <a:rPr lang="en-US" sz="2200" b="1" dirty="0">
                <a:solidFill>
                  <a:srgbClr val="02C39A"/>
                </a:solidFill>
              </a:rPr>
              <a:t> мс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764024" y="138988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Время ответа API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64024" y="160020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критерий ≤ 3000 мс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940296" y="804672"/>
            <a:ext cx="1920240" cy="1097280"/>
          </a:xfrm>
          <a:prstGeom prst="rect">
            <a:avLst/>
          </a:prstGeom>
          <a:solidFill>
            <a:srgbClr val="112050"/>
          </a:solidFill>
          <a:ln w="12700">
            <a:solidFill>
              <a:srgbClr val="CADCFC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940296" y="877824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C39A"/>
                </a:solidFill>
              </a:rPr>
              <a:t>23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940296" y="138988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Признаков в модели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940296" y="160020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16 + 7 категорий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11480" y="204825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</a:rPr>
              <a:t>Ключевые выводы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11480" y="2395728"/>
            <a:ext cx="54864" cy="32918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239572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utm_medium — важнейший признак: органика и referral резко увеличивают конверсию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11480" y="2889504"/>
            <a:ext cx="54864" cy="32918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288950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Desktop-пользователи конвертируют в 1.8× лучше мобильных — приоритет UX-доработки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11480" y="3383280"/>
            <a:ext cx="54864" cy="32918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33832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Referral-канал показал наивысший CR 4.21% — фокус рекламного бюджета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11480" y="3877056"/>
            <a:ext cx="54864" cy="32918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387705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Возвращающиеся клиенты (visit_number &gt; 3) — наиболее ценный сегмент аудитории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074920" y="204825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</a:rPr>
              <a:t>Структура проекта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074920" y="2423160"/>
            <a:ext cx="3749040" cy="329184"/>
          </a:xfrm>
          <a:prstGeom prst="rect">
            <a:avLst/>
          </a:prstGeom>
          <a:solidFill>
            <a:srgbClr val="112050"/>
          </a:solidFill>
          <a:ln w="1270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66360" y="24505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01_data_loading.ipynb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022592" y="24505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</a:rPr>
              <a:t>Загрузка и первичный анализ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074920" y="2798064"/>
            <a:ext cx="3749040" cy="329184"/>
          </a:xfrm>
          <a:prstGeom prst="rect">
            <a:avLst/>
          </a:prstGeom>
          <a:solidFill>
            <a:srgbClr val="112050"/>
          </a:solidFill>
          <a:ln w="1270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66360" y="28254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02_EDA.ipynb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022592" y="282549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</a:rPr>
              <a:t>Разведочный анализ данных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074920" y="3172968"/>
            <a:ext cx="3749040" cy="329184"/>
          </a:xfrm>
          <a:prstGeom prst="rect">
            <a:avLst/>
          </a:prstGeom>
          <a:solidFill>
            <a:srgbClr val="112050"/>
          </a:solidFill>
          <a:ln w="1270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66360" y="3200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03_ML_model.ipynb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022592" y="32004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</a:rPr>
              <a:t>Обучение и оценка модели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074920" y="3547872"/>
            <a:ext cx="3749040" cy="329184"/>
          </a:xfrm>
          <a:prstGeom prst="rect">
            <a:avLst/>
          </a:prstGeom>
          <a:solidFill>
            <a:srgbClr val="112050"/>
          </a:solidFill>
          <a:ln w="1270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66360" y="35753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04_API.ipynb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022592" y="357530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</a:rPr>
              <a:t>Тестирование API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074920" y="3922776"/>
            <a:ext cx="3749040" cy="329184"/>
          </a:xfrm>
          <a:prstGeom prst="rect">
            <a:avLst/>
          </a:prstGeom>
          <a:solidFill>
            <a:srgbClr val="112050"/>
          </a:solidFill>
          <a:ln w="1270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166360" y="39502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predict.py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022592" y="39502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</a:rPr>
              <a:t>FastAPI-сервис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074920" y="4297680"/>
            <a:ext cx="3749040" cy="329184"/>
          </a:xfrm>
          <a:prstGeom prst="rect">
            <a:avLst/>
          </a:prstGeom>
          <a:solidFill>
            <a:srgbClr val="112050"/>
          </a:solidFill>
          <a:ln w="1270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166360" y="43251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model.pkl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022592" y="43251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</a:rPr>
              <a:t>Сохранённая CatBoost-модель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074920" y="4672584"/>
            <a:ext cx="3749040" cy="329184"/>
          </a:xfrm>
          <a:prstGeom prst="rect">
            <a:avLst/>
          </a:prstGeom>
          <a:solidFill>
            <a:srgbClr val="112050"/>
          </a:solidFill>
          <a:ln w="1270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166360" y="47000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features_meta.pkl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022592" y="470001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</a:rPr>
              <a:t>Метаданные признаков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823</Words>
  <Application>Microsoft Office PowerPoint</Application>
  <PresentationFormat>Экран (16:9)</PresentationFormat>
  <Paragraphs>212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Arial</vt:lpstr>
      <vt:lpstr>Calibri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Анализ сайта СберАвтоподписки</dc:title>
  <dc:subject>PptxGenJS Presentation</dc:subject>
  <dc:creator>Manas</dc:creator>
  <cp:lastModifiedBy>Daniiar</cp:lastModifiedBy>
  <cp:revision>5</cp:revision>
  <dcterms:created xsi:type="dcterms:W3CDTF">2026-05-31T03:21:36Z</dcterms:created>
  <dcterms:modified xsi:type="dcterms:W3CDTF">2026-06-11T16:41:47Z</dcterms:modified>
</cp:coreProperties>
</file>